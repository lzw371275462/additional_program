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rawings/drawing1.xml" ContentType="application/vnd.openxmlformats-officedocument.drawingml.chartshap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7" r:id="rId2"/>
    <p:sldId id="283" r:id="rId3"/>
    <p:sldId id="298" r:id="rId4"/>
    <p:sldId id="299" r:id="rId5"/>
    <p:sldId id="300" r:id="rId6"/>
    <p:sldId id="313" r:id="rId7"/>
    <p:sldId id="302" r:id="rId8"/>
    <p:sldId id="303" r:id="rId9"/>
    <p:sldId id="301" r:id="rId10"/>
    <p:sldId id="315" r:id="rId11"/>
    <p:sldId id="314" r:id="rId12"/>
    <p:sldId id="304" r:id="rId13"/>
    <p:sldId id="297" r:id="rId14"/>
    <p:sldId id="305" r:id="rId15"/>
    <p:sldId id="316" r:id="rId16"/>
    <p:sldId id="306" r:id="rId17"/>
    <p:sldId id="307" r:id="rId18"/>
    <p:sldId id="312" r:id="rId19"/>
    <p:sldId id="317" r:id="rId20"/>
    <p:sldId id="318" r:id="rId21"/>
    <p:sldId id="319" r:id="rId22"/>
    <p:sldId id="320" r:id="rId23"/>
    <p:sldId id="308" r:id="rId24"/>
    <p:sldId id="309" r:id="rId25"/>
    <p:sldId id="294" r:id="rId26"/>
    <p:sldId id="293" r:id="rId27"/>
    <p:sldId id="261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28" autoAdjust="0"/>
  </p:normalViewPr>
  <p:slideViewPr>
    <p:cSldViewPr snapToGrid="0">
      <p:cViewPr varScale="1">
        <p:scale>
          <a:sx n="84" d="100"/>
          <a:sy n="84" d="100"/>
        </p:scale>
        <p:origin x="-19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Administrator\Desktop\&#21464;&#24322;&#21487;&#38752;&#24615;&#30740;&#21457;&#25968;&#25454;&#32479;&#35745;&#65298;&#65298;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25968;&#25454;&#24211;\15.0%20WES%20&#30740;&#21457;&#39033;&#30446;\&#20854;&#23427;&#21407;&#21017;\20180514-ssr+repeat&#21306;&#22495;&#21464;&#24322;&#30740;&#31350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autoTitleDeleted val="1"/>
    <c:plotArea>
      <c:layout>
        <c:manualLayout>
          <c:layoutTarget val="inner"/>
          <c:xMode val="edge"/>
          <c:yMode val="edge"/>
          <c:x val="0.21677882998850762"/>
          <c:y val="9.4919072615923E-2"/>
          <c:w val="0.73828758976829567"/>
          <c:h val="0.64558253135024757"/>
        </c:manualLayout>
      </c:layout>
      <c:scatterChart>
        <c:scatterStyle val="lineMarker"/>
        <c:ser>
          <c:idx val="0"/>
          <c:order val="0"/>
          <c:tx>
            <c:strRef>
              <c:f>Sheet5!$M$26</c:f>
              <c:strCache>
                <c:ptCount val="1"/>
                <c:pt idx="0">
                  <c:v>可靠变异缺失率</c:v>
                </c:pt>
              </c:strCache>
            </c:strRef>
          </c:tx>
          <c:spPr>
            <a:ln w="28575">
              <a:noFill/>
            </a:ln>
          </c:spPr>
          <c:trendline>
            <c:trendlineType val="linear"/>
          </c:trendline>
          <c:xVal>
            <c:numRef>
              <c:f>Sheet5!$J$27:$J$31</c:f>
              <c:numCache>
                <c:formatCode>General</c:formatCode>
                <c:ptCount val="5"/>
                <c:pt idx="1">
                  <c:v>80</c:v>
                </c:pt>
                <c:pt idx="2">
                  <c:v>90</c:v>
                </c:pt>
                <c:pt idx="3">
                  <c:v>100</c:v>
                </c:pt>
                <c:pt idx="4">
                  <c:v>130</c:v>
                </c:pt>
              </c:numCache>
            </c:numRef>
          </c:xVal>
          <c:yVal>
            <c:numRef>
              <c:f>Sheet5!$M$27:$M$31</c:f>
              <c:numCache>
                <c:formatCode>0.0000_ </c:formatCode>
                <c:ptCount val="5"/>
                <c:pt idx="1">
                  <c:v>1.3599646081499557E-3</c:v>
                </c:pt>
                <c:pt idx="2">
                  <c:v>1.1675336685205131E-3</c:v>
                </c:pt>
                <c:pt idx="3">
                  <c:v>8.6498837161858976E-4</c:v>
                </c:pt>
                <c:pt idx="4">
                  <c:v>4.8319826387711526E-4</c:v>
                </c:pt>
              </c:numCache>
            </c:numRef>
          </c:yVal>
        </c:ser>
        <c:axId val="180696960"/>
        <c:axId val="180698496"/>
      </c:scatterChart>
      <c:valAx>
        <c:axId val="180696960"/>
        <c:scaling>
          <c:orientation val="minMax"/>
          <c:max val="140"/>
          <c:min val="70"/>
        </c:scaling>
        <c:axPos val="b"/>
        <c:numFmt formatCode="General" sourceLinked="1"/>
        <c:tickLblPos val="nextTo"/>
        <c:crossAx val="180698496"/>
        <c:crosses val="autoZero"/>
        <c:crossBetween val="midCat"/>
        <c:majorUnit val="10"/>
        <c:minorUnit val="10"/>
      </c:valAx>
      <c:valAx>
        <c:axId val="180698496"/>
        <c:scaling>
          <c:orientation val="minMax"/>
        </c:scaling>
        <c:axPos val="l"/>
        <c:majorGridlines/>
        <c:numFmt formatCode="General" sourceLinked="1"/>
        <c:tickLblPos val="nextTo"/>
        <c:crossAx val="180696960"/>
        <c:crosses val="autoZero"/>
        <c:crossBetween val="midCat"/>
        <c:majorUnit val="4.0000000000000034E-4"/>
      </c:valAx>
    </c:plotArea>
    <c:plotVisOnly val="1"/>
  </c:chart>
  <c:externalData r:id="rId1"/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plotArea>
      <c:layout>
        <c:manualLayout>
          <c:layoutTarget val="inner"/>
          <c:xMode val="edge"/>
          <c:yMode val="edge"/>
          <c:x val="7.0202981384083804E-2"/>
          <c:y val="5.3081226688769155E-2"/>
          <c:w val="0.8114195185061327"/>
          <c:h val="0.84142906478795343"/>
        </c:manualLayout>
      </c:layout>
      <c:barChart>
        <c:barDir val="col"/>
        <c:grouping val="clustered"/>
        <c:ser>
          <c:idx val="0"/>
          <c:order val="0"/>
          <c:tx>
            <c:strRef>
              <c:f>Sheet1!$F$5</c:f>
              <c:strCache>
                <c:ptCount val="1"/>
                <c:pt idx="0">
                  <c:v>真阳性</c:v>
                </c:pt>
              </c:strCache>
            </c:strRef>
          </c:tx>
          <c:spPr>
            <a:ln w="28575">
              <a:noFill/>
            </a:ln>
          </c:spPr>
          <c:cat>
            <c:numRef>
              <c:f>Sheet1!$G$5:$G$11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Sheet1!$I$5:$I$11</c:f>
              <c:numCache>
                <c:formatCode>0.0000_ </c:formatCode>
                <c:ptCount val="7"/>
                <c:pt idx="0">
                  <c:v>0.93710807819992625</c:v>
                </c:pt>
                <c:pt idx="1">
                  <c:v>5.3485798598303214E-2</c:v>
                </c:pt>
                <c:pt idx="2">
                  <c:v>5.5330136481003345E-3</c:v>
                </c:pt>
                <c:pt idx="3">
                  <c:v>9.2216894135005543E-4</c:v>
                </c:pt>
                <c:pt idx="4">
                  <c:v>1.4754703061600886E-3</c:v>
                </c:pt>
                <c:pt idx="5">
                  <c:v>5.5330136481003349E-4</c:v>
                </c:pt>
                <c:pt idx="6">
                  <c:v>9.2216894135005543E-4</c:v>
                </c:pt>
              </c:numCache>
            </c:numRef>
          </c:val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假阳性</c:v>
                </c:pt>
              </c:strCache>
            </c:strRef>
          </c:tx>
          <c:spPr>
            <a:ln w="28575">
              <a:noFill/>
            </a:ln>
          </c:spPr>
          <c:cat>
            <c:numRef>
              <c:f>Sheet1!$C$5:$C$11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Sheet1!$E$5:$E$11</c:f>
              <c:numCache>
                <c:formatCode>0.0000_ </c:formatCode>
                <c:ptCount val="7"/>
                <c:pt idx="0">
                  <c:v>0.76162790697674454</c:v>
                </c:pt>
                <c:pt idx="1">
                  <c:v>0.15116279069767441</c:v>
                </c:pt>
                <c:pt idx="2">
                  <c:v>4.6511627906976799E-2</c:v>
                </c:pt>
                <c:pt idx="3">
                  <c:v>2.3255813953488372E-2</c:v>
                </c:pt>
                <c:pt idx="4">
                  <c:v>5.8139534883720964E-3</c:v>
                </c:pt>
                <c:pt idx="5">
                  <c:v>0</c:v>
                </c:pt>
                <c:pt idx="6">
                  <c:v>1.1627906976744177E-2</c:v>
                </c:pt>
              </c:numCache>
            </c:numRef>
          </c:val>
        </c:ser>
        <c:axId val="186516992"/>
        <c:axId val="186518528"/>
      </c:barChart>
      <c:catAx>
        <c:axId val="186516992"/>
        <c:scaling>
          <c:orientation val="minMax"/>
        </c:scaling>
        <c:axPos val="b"/>
        <c:numFmt formatCode="General" sourceLinked="1"/>
        <c:tickLblPos val="nextTo"/>
        <c:crossAx val="186518528"/>
        <c:crosses val="autoZero"/>
        <c:auto val="1"/>
        <c:lblAlgn val="ctr"/>
        <c:lblOffset val="100"/>
      </c:catAx>
      <c:valAx>
        <c:axId val="186518528"/>
        <c:scaling>
          <c:orientation val="minMax"/>
        </c:scaling>
        <c:axPos val="l"/>
        <c:majorGridlines/>
        <c:numFmt formatCode="0.0000_ " sourceLinked="1"/>
        <c:tickLblPos val="nextTo"/>
        <c:crossAx val="186516992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2000"/>
          </a:pPr>
          <a:endParaRPr lang="zh-CN"/>
        </a:p>
      </c:txPr>
    </c:legend>
    <c:plotVisOnly val="1"/>
    <c:dispBlanksAs val="gap"/>
  </c:chart>
  <c:externalData r:id="rId1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0.46196</cdr:x>
      <cdr:y>0.87153</cdr:y>
    </cdr:from>
    <cdr:to>
      <cdr:x>0.66848</cdr:x>
      <cdr:y>0.95833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301271" y="2390775"/>
          <a:ext cx="1028804" cy="2381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zh-CN" altLang="en-US" sz="1200">
              <a:latin typeface="Times New Roman" pitchFamily="18" charset="0"/>
              <a:cs typeface="Times New Roman" pitchFamily="18" charset="0"/>
            </a:rPr>
            <a:t>样本平均深度</a:t>
          </a:r>
        </a:p>
      </cdr:txBody>
    </cdr:sp>
  </cdr:relSizeAnchor>
  <cdr:relSizeAnchor xmlns:cdr="http://schemas.openxmlformats.org/drawingml/2006/chartDrawing">
    <cdr:from>
      <cdr:x>0.01621</cdr:x>
      <cdr:y>0.23264</cdr:y>
    </cdr:from>
    <cdr:to>
      <cdr:x>0.0923</cdr:x>
      <cdr:y>0.69097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80755" y="638174"/>
          <a:ext cx="379033" cy="125730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eaVert" wrap="none" rtlCol="0"/>
        <a:lstStyle xmlns:a="http://schemas.openxmlformats.org/drawingml/2006/main"/>
        <a:p xmlns:a="http://schemas.openxmlformats.org/drawingml/2006/main">
          <a:r>
            <a:rPr lang="zh-CN" altLang="en-US" sz="1200"/>
            <a:t>可靠变异缺失率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2018/10/23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79796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1487C1-DD6C-45F1-BDC0-3A63356DD889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860908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2018/10/23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2018/10/23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2018/10/23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2018/10/23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2018/10/23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2018/10/23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2018/10/23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2018/10/23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2018/10/23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2018/10/23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2018/10/23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2018/10/23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oadinstitute.org/gatk/guide/tooldocs/org_broadinstitute_gatk_tools_walkers_annotator_FisherStrand.php" TargetMode="External"/><Relationship Id="rId2" Type="http://schemas.openxmlformats.org/officeDocument/2006/relationships/hyperlink" Target="https://www.broadinstitute.org/gatk/guide/tooldocs/org_broadinstitute_gatk_tools_walkers_annotator_QualByDepth.php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broadinstitute.org/gatk/guide/tooldocs/org_broadinstitute_gatk_tools_walkers_annotator_ReadPosRankSumTest.php" TargetMode="External"/><Relationship Id="rId4" Type="http://schemas.openxmlformats.org/officeDocument/2006/relationships/hyperlink" Target="https://www.broadinstitute.org/gatk/guide/tooldocs/org_broadinstitute_gatk_tools_walkers_annotator_MappingQualityRankSumTest.php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95615" y="2123440"/>
            <a:ext cx="9144000" cy="920115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突变可靠性研究总结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8844" y="4161043"/>
            <a:ext cx="9144000" cy="584835"/>
          </a:xfrm>
        </p:spPr>
        <p:txBody>
          <a:bodyPr/>
          <a:lstStyle/>
          <a:p>
            <a:r>
              <a:rPr lang="zh-CN" altLang="en-US" b="1" dirty="0" smtClean="0"/>
              <a:t>生物信息部门</a:t>
            </a:r>
            <a:endParaRPr lang="en-US" altLang="zh-CN" b="1" dirty="0" smtClean="0"/>
          </a:p>
          <a:p>
            <a:endParaRPr lang="zh-CN" altLang="en-US" b="1" dirty="0"/>
          </a:p>
        </p:txBody>
      </p:sp>
      <p:pic>
        <p:nvPicPr>
          <p:cNvPr id="4" name="图片 3" descr="0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92623" y="6201790"/>
            <a:ext cx="1765935" cy="5949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96707" y="748020"/>
            <a:ext cx="5341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北京智因东方转化医学研究公司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0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01655" y="6296025"/>
            <a:ext cx="1141095" cy="384175"/>
          </a:xfrm>
          <a:prstGeom prst="rect">
            <a:avLst/>
          </a:prstGeom>
        </p:spPr>
      </p:pic>
      <p:sp>
        <p:nvSpPr>
          <p:cNvPr id="14" name=" 220"/>
          <p:cNvSpPr/>
          <p:nvPr/>
        </p:nvSpPr>
        <p:spPr>
          <a:xfrm>
            <a:off x="0" y="0"/>
            <a:ext cx="2690379" cy="524933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 smtClean="0">
                <a:solidFill>
                  <a:schemeClr val="tx1"/>
                </a:solidFill>
              </a:rPr>
              <a:t>目录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77387" y="3124333"/>
            <a:ext cx="91228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2800" b="1" dirty="0" smtClean="0">
                <a:solidFill>
                  <a:prstClr val="black"/>
                </a:solidFill>
                <a:latin typeface="+mn-ea"/>
              </a:rPr>
              <a:t>Repeat</a:t>
            </a:r>
            <a:r>
              <a:rPr lang="zh-CN" altLang="en-US" sz="2800" b="1" dirty="0" smtClean="0">
                <a:solidFill>
                  <a:prstClr val="black"/>
                </a:solidFill>
                <a:latin typeface="+mn-ea"/>
              </a:rPr>
              <a:t>区域与</a:t>
            </a:r>
            <a:r>
              <a:rPr lang="en-US" altLang="zh-CN" sz="2800" b="1" dirty="0" err="1" smtClean="0">
                <a:solidFill>
                  <a:prstClr val="black"/>
                </a:solidFill>
                <a:latin typeface="+mn-ea"/>
              </a:rPr>
              <a:t>ssr</a:t>
            </a:r>
            <a:r>
              <a:rPr lang="zh-CN" altLang="en-US" sz="2800" b="1" dirty="0" smtClean="0">
                <a:solidFill>
                  <a:prstClr val="black"/>
                </a:solidFill>
                <a:latin typeface="+mn-ea"/>
              </a:rPr>
              <a:t>区域重构处理对突变可靠性的提升</a:t>
            </a:r>
            <a:endParaRPr lang="zh-CN" altLang="en-US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54809" y="1550245"/>
            <a:ext cx="87390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2800" b="1" dirty="0" err="1" smtClean="0">
                <a:solidFill>
                  <a:prstClr val="black"/>
                </a:solidFill>
                <a:latin typeface="+mn-ea"/>
              </a:rPr>
              <a:t>Fastp</a:t>
            </a:r>
            <a:r>
              <a:rPr lang="zh-CN" altLang="en-US" sz="28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2800" b="1" dirty="0" err="1" smtClean="0">
                <a:solidFill>
                  <a:prstClr val="black"/>
                </a:solidFill>
                <a:latin typeface="+mn-ea"/>
              </a:rPr>
              <a:t>bwa</a:t>
            </a:r>
            <a:r>
              <a:rPr lang="zh-CN" altLang="en-US" sz="28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2800" b="1" dirty="0" smtClean="0">
                <a:solidFill>
                  <a:prstClr val="black"/>
                </a:solidFill>
                <a:latin typeface="+mn-ea"/>
              </a:rPr>
              <a:t>GATK</a:t>
            </a:r>
            <a:r>
              <a:rPr lang="zh-CN" altLang="en-US" sz="2800" b="1" dirty="0" smtClean="0">
                <a:solidFill>
                  <a:prstClr val="black"/>
                </a:solidFill>
                <a:latin typeface="+mn-ea"/>
              </a:rPr>
              <a:t>等软件升级对突变可靠性的提升</a:t>
            </a:r>
          </a:p>
        </p:txBody>
      </p:sp>
      <p:sp>
        <p:nvSpPr>
          <p:cNvPr id="10" name="矩形 9"/>
          <p:cNvSpPr/>
          <p:nvPr/>
        </p:nvSpPr>
        <p:spPr>
          <a:xfrm>
            <a:off x="1477386" y="2318238"/>
            <a:ext cx="86600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2800" b="1" dirty="0" err="1" smtClean="0">
                <a:solidFill>
                  <a:prstClr val="black"/>
                </a:solidFill>
                <a:latin typeface="+mn-ea"/>
              </a:rPr>
              <a:t>meMAF</a:t>
            </a:r>
            <a:r>
              <a:rPr lang="zh-CN" altLang="en-US" sz="2800" b="1" dirty="0" smtClean="0">
                <a:solidFill>
                  <a:prstClr val="black"/>
                </a:solidFill>
                <a:latin typeface="+mn-ea"/>
              </a:rPr>
              <a:t>数据库更新对突变可靠性的提升</a:t>
            </a:r>
            <a:endParaRPr lang="zh-CN" altLang="en-US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32232" y="769895"/>
            <a:ext cx="58744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0865" indent="-570865" defTabSz="907415">
              <a:buFont typeface="Wingdings" pitchFamily="2" charset="2"/>
              <a:buChar char="u"/>
            </a:pPr>
            <a:r>
              <a:rPr lang="zh-CN" altLang="en-US" sz="2800" b="1" dirty="0" smtClean="0">
                <a:solidFill>
                  <a:prstClr val="black"/>
                </a:solidFill>
                <a:latin typeface="+mn-ea"/>
              </a:rPr>
              <a:t>结论</a:t>
            </a:r>
            <a:endParaRPr lang="en-US" altLang="zh-CN" sz="2800" b="1" dirty="0" smtClean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88323" y="3952224"/>
            <a:ext cx="88635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0865" indent="-570865" defTabSz="907415">
              <a:buFont typeface="Wingdings" pitchFamily="2" charset="2"/>
              <a:buChar char="u"/>
            </a:pPr>
            <a:r>
              <a:rPr lang="zh-CN" altLang="en-US" sz="2800" b="1" dirty="0" smtClean="0">
                <a:solidFill>
                  <a:prstClr val="black"/>
                </a:solidFill>
                <a:latin typeface="+mn-ea"/>
              </a:rPr>
              <a:t>家系突变型矫正对突变型可靠性的提升</a:t>
            </a:r>
            <a:endParaRPr lang="en-US" altLang="zh-CN" sz="2800" b="1" dirty="0" smtClean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93967" y="4815825"/>
            <a:ext cx="88635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0865" indent="-570865" defTabSz="907415">
              <a:buFont typeface="Wingdings" pitchFamily="2" charset="2"/>
              <a:buChar char="u"/>
            </a:pPr>
            <a:r>
              <a:rPr lang="zh-CN" altLang="en-US" sz="2800" b="1" dirty="0" smtClean="0">
                <a:solidFill>
                  <a:prstClr val="black"/>
                </a:solidFill>
                <a:latin typeface="+mn-ea"/>
              </a:rPr>
              <a:t>突变可靠性的标准</a:t>
            </a:r>
            <a:endParaRPr lang="en-US" altLang="zh-CN" sz="2800" b="1" dirty="0" smtClean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56056" y="5668136"/>
            <a:ext cx="88635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2800" b="1" dirty="0" smtClean="0">
                <a:solidFill>
                  <a:prstClr val="black"/>
                </a:solidFill>
                <a:latin typeface="+mn-ea"/>
              </a:rPr>
              <a:t>WES </a:t>
            </a:r>
            <a:r>
              <a:rPr lang="zh-CN" altLang="en-US" sz="2800" b="1" dirty="0" smtClean="0">
                <a:solidFill>
                  <a:prstClr val="black"/>
                </a:solidFill>
                <a:latin typeface="+mn-ea"/>
              </a:rPr>
              <a:t>过滤标准</a:t>
            </a:r>
            <a:endParaRPr lang="en-US" altLang="zh-CN" sz="2800" b="1" dirty="0" smtClean="0">
              <a:solidFill>
                <a:prstClr val="black"/>
              </a:solidFill>
              <a:latin typeface="+mn-ea"/>
            </a:endParaRPr>
          </a:p>
        </p:txBody>
      </p:sp>
    </p:spTree>
    <p:custDataLst>
      <p:tags r:id="rId1"/>
    </p:custDataLst>
  </p:cSld>
  <p:clrMapOvr>
    <a:masterClrMapping/>
  </p:clrMapOvr>
  <p:transition>
    <p:comb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 220"/>
          <p:cNvSpPr/>
          <p:nvPr/>
        </p:nvSpPr>
        <p:spPr>
          <a:xfrm>
            <a:off x="0" y="0"/>
            <a:ext cx="2690379" cy="524933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 smtClean="0">
                <a:solidFill>
                  <a:schemeClr val="tx1"/>
                </a:solidFill>
              </a:rPr>
              <a:t>结论</a:t>
            </a:r>
            <a:endParaRPr lang="en-US" altLang="zh-CN" sz="3200" dirty="0" smtClean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0266" y="745067"/>
            <a:ext cx="1175173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结论：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）：</a:t>
            </a:r>
            <a:r>
              <a:rPr lang="en-US" altLang="zh-CN" sz="2400" b="1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zh-CN" altLang="en-US" sz="2400" b="1" dirty="0" smtClean="0">
                <a:solidFill>
                  <a:prstClr val="black"/>
                </a:solidFill>
                <a:latin typeface="+mn-ea"/>
              </a:rPr>
              <a:t>通过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Fastp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bwa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GATK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等软件及参数升级，得证位点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53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个全部检出，无阳性漏检，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43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个假阳性变异过滤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35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个，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可降低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81%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的假阳性率，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可以很好的解决掉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reads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末端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多错误比对区域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的假阳性变异。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）：通过对</a:t>
            </a:r>
            <a:r>
              <a:rPr lang="en-US" altLang="zh-CN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ssr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区域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repeat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区域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的过滤，可过滤剩下的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个假阳性变异，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可降低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16%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的假阳性率，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但仍有一个未能处理。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）：总的来说，通过这些参数的调整，可以将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假阳性率控制在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2%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以下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，同时会有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千分之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以下阳性检出率的丢失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>
              <a:lnSpc>
                <a:spcPct val="150000"/>
              </a:lnSpc>
            </a:pP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）：制定了一套完整的变异可靠性分级体系。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Fastp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bwa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GATK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等软件升级对突变可靠性的提升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532" y="1354666"/>
            <a:ext cx="1003582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升级内容如下：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	1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）过滤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rawdata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的软件从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trimmomatic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升级为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fastp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	2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bwa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比对罚分调整，错配罚分更加严格。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	3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GATK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参数调整，对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call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变异的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reads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过滤更加严格。</a:t>
            </a:r>
            <a:endParaRPr lang="zh-CN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Fastp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bwa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GATK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等软件升级对突变可靠性的提升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4090" y="869244"/>
            <a:ext cx="9188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Fastq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升级对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clean data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数据质量的提升：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52499" y="1531228"/>
          <a:ext cx="9105901" cy="3002280"/>
        </p:xfrm>
        <a:graphic>
          <a:graphicData uri="http://schemas.openxmlformats.org/drawingml/2006/table">
            <a:tbl>
              <a:tblPr/>
              <a:tblGrid>
                <a:gridCol w="2298656"/>
                <a:gridCol w="2258328"/>
                <a:gridCol w="2290589"/>
                <a:gridCol w="2258328"/>
              </a:tblGrid>
              <a:tr h="35694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Raw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Trimmomatic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fastp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94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read1_len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94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read2_len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94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pair_number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62340538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62333584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60613866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94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base_number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9351073792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8843620352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8363402240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94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GC_content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49.41%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49.20%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49.12%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94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Q_20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96.72%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92D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97.11%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97.86%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94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Q_30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91.88%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 dirty="0">
                          <a:solidFill>
                            <a:srgbClr val="92D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92.37%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93.39%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7339" y="4977829"/>
            <a:ext cx="107247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结论：</a:t>
            </a:r>
            <a:endParaRPr lang="en-US" altLang="zh-CN" sz="2800" dirty="0" smtClean="0"/>
          </a:p>
          <a:p>
            <a:r>
              <a:rPr lang="en-US" altLang="zh-CN" sz="2800" dirty="0" smtClean="0"/>
              <a:t>	</a:t>
            </a:r>
            <a:r>
              <a:rPr lang="zh-CN" altLang="en-US" sz="2800" dirty="0" smtClean="0"/>
              <a:t>数据过滤软件升级后，</a:t>
            </a:r>
            <a:r>
              <a:rPr lang="en-US" altLang="zh-CN" sz="2800" dirty="0" smtClean="0"/>
              <a:t>clean data </a:t>
            </a:r>
            <a:r>
              <a:rPr lang="zh-CN" altLang="en-US" sz="2800" dirty="0" smtClean="0"/>
              <a:t>的</a:t>
            </a:r>
            <a:r>
              <a:rPr lang="en-US" altLang="zh-CN" sz="2800" dirty="0" smtClean="0">
                <a:solidFill>
                  <a:srgbClr val="FF0000"/>
                </a:solidFill>
              </a:rPr>
              <a:t>Q20</a:t>
            </a:r>
            <a:r>
              <a:rPr lang="zh-CN" altLang="en-US" sz="2800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dirty="0" smtClean="0">
                <a:solidFill>
                  <a:srgbClr val="FF0000"/>
                </a:solidFill>
              </a:rPr>
              <a:t>Q30</a:t>
            </a:r>
            <a:r>
              <a:rPr lang="zh-CN" altLang="en-US" sz="2800" dirty="0" smtClean="0">
                <a:solidFill>
                  <a:srgbClr val="FF0000"/>
                </a:solidFill>
              </a:rPr>
              <a:t>都有</a:t>
            </a:r>
            <a:r>
              <a:rPr lang="en-US" altLang="zh-CN" sz="2800" dirty="0" smtClean="0">
                <a:solidFill>
                  <a:srgbClr val="FF0000"/>
                </a:solidFill>
              </a:rPr>
              <a:t>1%</a:t>
            </a:r>
            <a:r>
              <a:rPr lang="zh-CN" altLang="en-US" sz="2800" dirty="0" smtClean="0">
                <a:solidFill>
                  <a:srgbClr val="FF0000"/>
                </a:solidFill>
              </a:rPr>
              <a:t>的提升</a:t>
            </a:r>
            <a:r>
              <a:rPr lang="zh-CN" altLang="en-US" sz="2800" dirty="0" smtClean="0"/>
              <a:t>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Fastp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bwa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GATK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等软件升级对突变可靠性的提升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98311"/>
            <a:ext cx="9188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59292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chr17_70119728_70119728_G_C</a:t>
            </a:r>
          </a:p>
        </p:txBody>
      </p:sp>
      <p:pic>
        <p:nvPicPr>
          <p:cNvPr id="41985" name="Picture 1" descr="D:\Documents\Tencent Files\371275462\Image\C2C\)B87}AFQBQ0D4~}VRQ@W`A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01884" y="1219200"/>
            <a:ext cx="7066844" cy="5638800"/>
          </a:xfrm>
          <a:prstGeom prst="rect">
            <a:avLst/>
          </a:prstGeom>
          <a:noFill/>
        </p:spPr>
      </p:pic>
      <p:pic>
        <p:nvPicPr>
          <p:cNvPr id="41986" name="Picture 2" descr="D:\Documents\Tencent Files\371275462\Image\C2C\EY}@CDXQ}GJ(JNA]UIHY72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22066" y="1203767"/>
            <a:ext cx="6746634" cy="565423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Fastp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bwa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GATK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等软件升级对突变可靠性的提升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4089" y="869244"/>
            <a:ext cx="88312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Bwa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参数调整对假阳性变异的影响：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多错误比对的处理</a:t>
            </a:r>
            <a:endParaRPr lang="en-US" altLang="zh-CN" sz="28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	58768: chr16_87760337_87760337_A_C</a:t>
            </a:r>
            <a:endParaRPr lang="zh-CN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图片 3" descr="C:\Users\Administrator\AppData\Roaming\Tencent\Users\928950028\QQ\WinTemp\RichOle\DWLRDTF9N{L8GBFYPPDF`{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lc="http://schemas.openxmlformats.org/drawingml/2006/lockedCanvas" xmlns:a14="http://schemas.microsoft.com/office/drawing/2010/main" xmlns:xdr="http://schemas.openxmlformats.org/drawingml/2006/spreadsheetDrawing" xmlns="" val="0"/>
              </a:ext>
            </a:extLst>
          </a:blip>
          <a:srcRect/>
          <a:stretch>
            <a:fillRect/>
          </a:stretch>
        </p:blipFill>
        <p:spPr bwMode="auto">
          <a:xfrm>
            <a:off x="959556" y="1828800"/>
            <a:ext cx="9964810" cy="5029200"/>
          </a:xfrm>
          <a:prstGeom prst="rect">
            <a:avLst/>
          </a:prstGeom>
          <a:noFill/>
          <a:extLst>
            <a:ext uri="{909E8E84-426E-40DD-AFC4-6F175D3DCCD1}">
              <a14:hiddenFill xmlns:lc="http://schemas.openxmlformats.org/drawingml/2006/lockedCanvas" xmlns:a14="http://schemas.microsoft.com/office/drawing/2010/main" xmlns:xdr="http://schemas.openxmlformats.org/drawingml/2006/spreadsheetDrawing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Fastp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bwa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GATK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等软件升级对突变可靠性的提升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4089" y="869244"/>
            <a:ext cx="90431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GATK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参数调整对假阳性变异的影响：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支持变异质量值低</a:t>
            </a:r>
            <a:endParaRPr lang="en-US" altLang="zh-CN" sz="28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71422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chr8_38272100_38272101_-_T</a:t>
            </a:r>
            <a:endParaRPr lang="zh-CN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9937" name="Picture 1" descr="D:\Documents\Tencent Files\371275462\Image\C2C\AC$F{O$]{PGF@[{PUOL~9}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36179" y="1994703"/>
            <a:ext cx="7134225" cy="4724400"/>
          </a:xfrm>
          <a:prstGeom prst="rect">
            <a:avLst/>
          </a:prstGeom>
          <a:noFill/>
        </p:spPr>
      </p:pic>
      <p:pic>
        <p:nvPicPr>
          <p:cNvPr id="39938" name="Picture 2" descr="D:\Documents\Tencent Files\371275462\Image\C2C\KR95DNQEZ4T{]U@CI1CHIO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92800" y="1947207"/>
            <a:ext cx="6299200" cy="47490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Fastp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bwa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GATK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等软件升级对突变可靠性的提升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2223" y="914400"/>
            <a:ext cx="112230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选取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21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个样本，重新分析，比较差异。其中：得证的位点一共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53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个，未得证的位点一共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45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个，分析结果如下：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22488" y="2695858"/>
          <a:ext cx="10408356" cy="2626995"/>
        </p:xfrm>
        <a:graphic>
          <a:graphicData uri="http://schemas.openxmlformats.org/drawingml/2006/table">
            <a:tbl>
              <a:tblPr/>
              <a:tblGrid>
                <a:gridCol w="2111023"/>
                <a:gridCol w="704850"/>
                <a:gridCol w="1314450"/>
                <a:gridCol w="6278033"/>
              </a:tblGrid>
              <a:tr h="35602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类型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总数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检出数目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备注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02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 dirty="0" err="1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ssr</a:t>
                      </a:r>
                      <a:r>
                        <a:rPr lang="zh-CN" altLang="en-US" sz="2400" b="0" i="0" u="none" strike="noStrik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及类</a:t>
                      </a:r>
                      <a:r>
                        <a:rPr lang="en-US" altLang="zh-CN" sz="2400" b="0" i="0" u="none" strike="noStrike" dirty="0" err="1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ssr</a:t>
                      </a:r>
                      <a:r>
                        <a:rPr lang="zh-CN" altLang="en-US" sz="2400" b="0" i="0" u="none" strike="noStrik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区域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三碱基串联重复为主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02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b="0" i="0" u="none" strike="noStrike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多拷贝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02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比对区域末端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02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mismatch</a:t>
                      </a: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多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lang="zh-CN" altLang="en-US" sz="2400" b="0" i="0" u="none" strike="noStrik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个为系统性误差导致的极高频变异</a:t>
                      </a:r>
                      <a:endParaRPr lang="zh-CN" altLang="en-US" sz="2400" b="0" i="0" u="none" strike="noStrike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02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ploy</a:t>
                      </a: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结构附近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98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4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人为误差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4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zh-CN" altLang="en-US" sz="24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代非常可靠，核实后为真阳性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Fastp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bwa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GATK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等软件升级对突变可靠性的提升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3111" y="812801"/>
            <a:ext cx="8954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71422   chr19:41133065-41133065 c.4372(exon31)C&gt;G       c.4372(exon31)C</a:t>
            </a:r>
            <a:r>
              <a:rPr lang="zh-CN" altLang="en-US" dirty="0" smtClean="0"/>
              <a:t>正常，</a:t>
            </a:r>
            <a:r>
              <a:rPr lang="en-US" altLang="zh-CN" dirty="0" smtClean="0"/>
              <a:t>c.4371C&gt;S</a:t>
            </a:r>
            <a:endParaRPr lang="zh-CN" altLang="en-US" dirty="0"/>
          </a:p>
        </p:txBody>
      </p:sp>
      <p:pic>
        <p:nvPicPr>
          <p:cNvPr id="50177" name="Picture 1" descr="D:\Documents\Tencent Files\371275462\Image\C2C\{EMD0}HAGKTRI6PW{05CU5A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7288" y="1185333"/>
            <a:ext cx="8229601" cy="4710546"/>
          </a:xfrm>
          <a:prstGeom prst="rect">
            <a:avLst/>
          </a:prstGeom>
          <a:noFill/>
        </p:spPr>
      </p:pic>
      <p:sp>
        <p:nvSpPr>
          <p:cNvPr id="5" name="等腰三角形 4"/>
          <p:cNvSpPr/>
          <p:nvPr/>
        </p:nvSpPr>
        <p:spPr>
          <a:xfrm>
            <a:off x="5136444" y="5610578"/>
            <a:ext cx="383822" cy="1027289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Fastp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bwa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GATK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等软件升级对突变可靠性的提升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1511" y="1004711"/>
            <a:ext cx="10143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59252   chr2:86305001-86305001  c.1361A&gt;G(exon11)       c.1361</a:t>
            </a:r>
            <a:r>
              <a:rPr lang="zh-CN" altLang="en-US" dirty="0" smtClean="0"/>
              <a:t>正常；内含子</a:t>
            </a:r>
            <a:r>
              <a:rPr lang="en-US" altLang="zh-CN" dirty="0" smtClean="0"/>
              <a:t>c.1258-19A&gt;G   rs2288117</a:t>
            </a:r>
            <a:endParaRPr lang="zh-CN" altLang="en-US" dirty="0"/>
          </a:p>
        </p:txBody>
      </p:sp>
      <p:pic>
        <p:nvPicPr>
          <p:cNvPr id="51201" name="Picture 1" descr="D:\Documents\Tencent Files\371275462\Image\C2C\O{$4F45QW{V1F)PJNZJOZ2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4045" y="1557865"/>
            <a:ext cx="8895644" cy="4347796"/>
          </a:xfrm>
          <a:prstGeom prst="rect">
            <a:avLst/>
          </a:prstGeom>
          <a:noFill/>
        </p:spPr>
      </p:pic>
      <p:sp>
        <p:nvSpPr>
          <p:cNvPr id="5" name="等腰三角形 4"/>
          <p:cNvSpPr/>
          <p:nvPr/>
        </p:nvSpPr>
        <p:spPr>
          <a:xfrm>
            <a:off x="6265333" y="5695244"/>
            <a:ext cx="383822" cy="1027289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Fastp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bwa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GATK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等软件升级对突变可靠性的提升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266" y="745067"/>
            <a:ext cx="1175173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结论：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）：已验证结果检出情况：得证位点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53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个全部检出，无阳性漏检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）： 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43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个假阳性变异过滤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35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个，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降低假阳性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81%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）：但是依然有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个假阳性未能过滤。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检出的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个未得证的位点中，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个属于</a:t>
            </a:r>
            <a:r>
              <a:rPr lang="en-US" altLang="zh-CN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ssr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区域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（三碱基的串联重复，重复次数问题），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个位于重复区域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）：通过数据过滤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fastp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bwa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GATK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等软件参数的优化，可以很好的解决掉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reads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末端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多错误比对区域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的假阳性变异。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）：可以对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ssr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区域和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repeat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区域的假阳性变异有一定的改善，但是仍不能解决所有问题。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Fastp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bwa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GATK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等软件升级对突变可靠性的提升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48355" y="654752"/>
          <a:ext cx="11706577" cy="5904094"/>
        </p:xfrm>
        <a:graphic>
          <a:graphicData uri="http://schemas.openxmlformats.org/drawingml/2006/table">
            <a:tbl>
              <a:tblPr/>
              <a:tblGrid>
                <a:gridCol w="1335103"/>
                <a:gridCol w="781524"/>
                <a:gridCol w="781524"/>
                <a:gridCol w="862933"/>
                <a:gridCol w="964692"/>
                <a:gridCol w="1335103"/>
                <a:gridCol w="1188567"/>
                <a:gridCol w="1599682"/>
                <a:gridCol w="1599682"/>
                <a:gridCol w="1257767"/>
              </a:tblGrid>
              <a:tr h="503188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</a:rPr>
                        <a:t>样本名称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项目代码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平均深度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参数调整前变异数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参数调整后变异数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共有变异数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共有变异率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调整前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maf90%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以上的变异数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调整后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maf90%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以上的变异数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可靠变异缺失率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52780xbycn1A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Tahoma"/>
                        </a:rPr>
                        <a:t>98.66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66365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63753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61663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0.9672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132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0.00190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58768xbycn1A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79.2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59837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58207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56836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0.9764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76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0.00110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58863xbycn1A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95.94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61117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59591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58156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0.9759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67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0.00097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59252xbycn1A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82.67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62029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60280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58629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0.9726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64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0.00091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60294xbycn1A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92.21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62006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60225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58576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0.9726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0.00091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60475xbycn1A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84.32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62354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60394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58708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0.9721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99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0.00132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61133xbycn1A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72.94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62729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61088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59486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0.9738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52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0.00072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61590xbycn1A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71.18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58670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57722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56431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0.9776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41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0.00050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62532xbycn1A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129.36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59498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58311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57048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0.9783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0.00026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63554xbycn1A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88.48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61429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60040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58459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0.9737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74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0.00105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65303xbycn1A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73.79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63995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61965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60193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0.9714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77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0.00102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65550xbycn1A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136.5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61174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59697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58164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0.9743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32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0.00039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65783xbycn1A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108.77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62311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60683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59169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0.9751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60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21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0.00064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66281xbycn1A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85.51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63466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61576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59978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0.9740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0.00123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66423xbycn1A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83.71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63963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61881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60145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0.9719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</a:rPr>
                        <a:t>81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21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0.00097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69482xbycn1A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68.85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62427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60693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59055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0.9730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0.00069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70108xbycn1A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86.45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63055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61378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59694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0.9726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52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0.00055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71422xbycn1A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82.15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65609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63309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61647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0.9737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111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0.00147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74642xbycn1A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102.04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63549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61749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60174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0.9745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46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</a:rPr>
                        <a:t>0.00049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57513xbycn1A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NT02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138.21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17515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16378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12846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0.7843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/>
                        </a:rPr>
                        <a:t>294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</a:rPr>
                        <a:t>-0.01685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67889xbycn1A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NT02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175.73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17412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18022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12839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微软雅黑"/>
                        </a:rPr>
                        <a:t>0.7124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/>
                        </a:rPr>
                        <a:t>468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latin typeface="微软雅黑"/>
                        </a:rPr>
                        <a:t>-0.02491 </a:t>
                      </a:r>
                    </a:p>
                  </a:txBody>
                  <a:tcPr marL="8490" marR="8490" marT="84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Fastp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bwa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、</a:t>
            </a: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GATK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等软件升级对突变可靠性的提升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266471" y="907132"/>
          <a:ext cx="9164462" cy="1524000"/>
        </p:xfrm>
        <a:graphic>
          <a:graphicData uri="http://schemas.openxmlformats.org/drawingml/2006/table">
            <a:tbl>
              <a:tblPr/>
              <a:tblGrid>
                <a:gridCol w="1079500"/>
                <a:gridCol w="1841500"/>
                <a:gridCol w="1841500"/>
                <a:gridCol w="4401962"/>
              </a:tblGrid>
              <a:tr h="15633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样本深度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可靠变异缺失数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可靠变异缺失率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样本名称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0.0014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58768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；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71422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；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59252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；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66423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0.0012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63554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；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60294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；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58863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0.0009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52780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；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74642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；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65783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98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28.5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0.0005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62532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；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65550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1253068" y="2686756"/>
          <a:ext cx="9098843" cy="2573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59556" y="5588000"/>
            <a:ext cx="10410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结论：样本深度达到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100X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时，可靠变异的缺失率可以控制在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千分之一以下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meMAF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数据库更新对突变可靠性的提升</a:t>
            </a:r>
            <a:endParaRPr lang="zh-CN" altLang="en-US" sz="3200" b="1" dirty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769" y="1202583"/>
            <a:ext cx="11134846" cy="1714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6771" y="3472404"/>
            <a:ext cx="14078310" cy="2200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meMAF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数据库更新对突变可靠性的提升</a:t>
            </a:r>
            <a:endParaRPr lang="zh-CN" altLang="en-US" sz="32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9612" y="1214341"/>
            <a:ext cx="1082004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meMAF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大数据库的局限性：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	1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万人左右的频率数据更新需要不间断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20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天的任务，数据具有滞后性。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	2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不同时间段数据差异性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导致的不可靠高频变异不易控制。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为了解决此问题，我们构建了动态的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人样本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meMAF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数据库，随时更新，补充处理系统性误差导致的高频的假阳性变异。</a:t>
            </a:r>
            <a:endParaRPr lang="zh-CN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Repeat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区域与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ssr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区域重构处理对突变可靠性的提升</a:t>
            </a:r>
            <a:endParaRPr lang="zh-CN" altLang="en-US" sz="32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3511" y="553155"/>
            <a:ext cx="5027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DD18000277 </a:t>
            </a:r>
            <a:r>
              <a:rPr lang="zh-CN" altLang="en-US" dirty="0" smtClean="0"/>
              <a:t>变异核查：</a:t>
            </a:r>
            <a:r>
              <a:rPr lang="en-US" altLang="zh-CN" dirty="0" smtClean="0"/>
              <a:t> 	chr16_70926362_C_A</a:t>
            </a:r>
            <a:endParaRPr lang="zh-CN" altLang="en-US"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6417" y="953910"/>
            <a:ext cx="8439493" cy="2718271"/>
          </a:xfrm>
          <a:prstGeom prst="rect">
            <a:avLst/>
          </a:prstGeom>
          <a:noFill/>
          <a:ln w="1">
            <a:noFill/>
            <a:miter lim="800000"/>
            <a:headEnd/>
            <a:tailEnd type="none" w="med" len="med"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4369" y="3769140"/>
            <a:ext cx="8420252" cy="3088860"/>
          </a:xfrm>
          <a:prstGeom prst="rect">
            <a:avLst/>
          </a:prstGeom>
          <a:noFill/>
          <a:ln w="1">
            <a:noFill/>
            <a:miter lim="800000"/>
            <a:headEnd/>
            <a:tailEnd type="none" w="med" len="med"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Repeat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区域与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ssr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区域重构处理对突变可靠性的提升</a:t>
            </a:r>
            <a:endParaRPr lang="zh-CN" altLang="en-US" sz="3200" b="1" dirty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138" y="1705503"/>
            <a:ext cx="10779670" cy="4232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1" name="Picture 3" descr="D:\Documents\Tencent Files\371275462\Image\C2C\[Z5I$L(V0JH8$6ANA4(5E8R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04801" y="824946"/>
            <a:ext cx="12192000" cy="2185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Repeat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区域与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ssr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区域重构处理对突变可靠性的提升</a:t>
            </a:r>
            <a:endParaRPr lang="zh-CN" altLang="en-US" sz="3200" b="1" dirty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53249" name="Picture 1" descr="D:\Documents\Tencent Files\371275462\Image\C2C\$Q5L3$UA}YIP[B[]868`9H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12517" y="833377"/>
            <a:ext cx="11891430" cy="231493"/>
          </a:xfrm>
          <a:prstGeom prst="rect">
            <a:avLst/>
          </a:prstGeom>
          <a:noFill/>
        </p:spPr>
      </p:pic>
      <p:pic>
        <p:nvPicPr>
          <p:cNvPr id="53250" name="Picture 2" descr="D:\Documents\Tencent Files\371275462\Image\C2C\R}Y[}L47Q_BZJ]_J62BD9`F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0860" y="1354238"/>
            <a:ext cx="10486663" cy="424890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Repeat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区域与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ssr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区域重构处理对突变可靠性的提升</a:t>
            </a:r>
            <a:endParaRPr lang="zh-CN" altLang="en-US" sz="3200" b="1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24089" y="666047"/>
          <a:ext cx="9414934" cy="3002280"/>
        </p:xfrm>
        <a:graphic>
          <a:graphicData uri="http://schemas.openxmlformats.org/drawingml/2006/table">
            <a:tbl>
              <a:tblPr/>
              <a:tblGrid>
                <a:gridCol w="1102650"/>
                <a:gridCol w="4636784"/>
                <a:gridCol w="3675500"/>
              </a:tblGrid>
              <a:tr h="2779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58863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chr9:140056884-140056886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串联重复区域（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GAG）5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9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58863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chr16:79633239-79633241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串联重复区域（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GTG）6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9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60294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chr20:62292822-62292824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串联重复区域（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GCT）5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9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61590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chrX:21627678-21627680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串联重复区域（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GAG）7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9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61590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chrX:25025356-25025358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串联重复区域（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GGC）7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9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66281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chr14:29236624-29236626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串联重复区域（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CAC）7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9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65783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chr15:28447728-28447742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zh-CN" alt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拷贝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9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65783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chr15:28460950-28460950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lang="zh-CN" altLang="en-US" sz="2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拷贝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01511" y="3894667"/>
            <a:ext cx="110179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结论：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）：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个及以上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repeat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区域，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个及以上串联重复区域的变异直接过滤，可以过滤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个假阳性变异，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降低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16%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的假阳性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，但是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会造成千分之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的真阳性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的丢失；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Repeat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区域与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ssr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区域重构处理对突变可靠性的提升</a:t>
            </a:r>
            <a:endParaRPr lang="zh-CN" altLang="en-US" sz="3200" b="1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04800" y="767647"/>
          <a:ext cx="11051822" cy="2438400"/>
        </p:xfrm>
        <a:graphic>
          <a:graphicData uri="http://schemas.openxmlformats.org/drawingml/2006/table">
            <a:tbl>
              <a:tblPr/>
              <a:tblGrid>
                <a:gridCol w="803589"/>
                <a:gridCol w="1271213"/>
                <a:gridCol w="1016969"/>
                <a:gridCol w="1579936"/>
                <a:gridCol w="980650"/>
                <a:gridCol w="1271213"/>
                <a:gridCol w="1125408"/>
                <a:gridCol w="835892"/>
                <a:gridCol w="2166952"/>
              </a:tblGrid>
              <a:tr h="2977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　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repeat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次数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位点数目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占总数比例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　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repeat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次数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位点数目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比例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假阳概率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/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真阳概率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7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假阳性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0.7616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真阳性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B0F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B0F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5081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B0F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0.9371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0.8127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7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假阳性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0.1512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真阳性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B0F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B0F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290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B0F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0.0535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2.8262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7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假阳性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0.0465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真阳性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0.0055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8.4062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7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假阳性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0.0233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真阳性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0.0009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25.2186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7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假阳性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0.0058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真阳性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0.0015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3.9404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7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假阳性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0.0000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真阳性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0.0006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0.0000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744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假阳性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0.0116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真阳性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0.0009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12.6093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图表 3"/>
          <p:cNvGraphicFramePr/>
          <p:nvPr/>
        </p:nvGraphicFramePr>
        <p:xfrm>
          <a:off x="487362" y="3668537"/>
          <a:ext cx="5755393" cy="2799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84623" y="3793066"/>
            <a:ext cx="45308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结论：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repeat 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区域的变异虽然会有大部分进行报道，我们也对其可靠性进行了划分，但是在实际分析过程中，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repeat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区域的变异还需大家慎重考虑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，我们也会把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repeat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数展示出来。</a:t>
            </a: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Repeat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区域与</a:t>
            </a:r>
            <a:r>
              <a:rPr lang="en-US" altLang="zh-CN" sz="3200" b="1" dirty="0" err="1" smtClean="0">
                <a:solidFill>
                  <a:prstClr val="black"/>
                </a:solidFill>
                <a:latin typeface="+mn-ea"/>
              </a:rPr>
              <a:t>ssr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区域重构处理对突变可靠性的提升</a:t>
            </a:r>
            <a:endParaRPr lang="zh-CN" altLang="en-US" sz="3200" b="1" dirty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0267" y="515851"/>
            <a:ext cx="11334044" cy="6342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家系突变型矫正对突变可靠性的提升</a:t>
            </a:r>
            <a:endParaRPr lang="en-US" altLang="zh-CN" sz="3200" b="1" dirty="0" smtClean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303638" y="707849"/>
          <a:ext cx="8793339" cy="996773"/>
        </p:xfrm>
        <a:graphic>
          <a:graphicData uri="http://schemas.openxmlformats.org/drawingml/2006/table">
            <a:tbl>
              <a:tblPr/>
              <a:tblGrid>
                <a:gridCol w="879829"/>
                <a:gridCol w="3266713"/>
                <a:gridCol w="2219687"/>
                <a:gridCol w="2427110"/>
              </a:tblGrid>
              <a:tr h="30274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父亲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母亲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先证者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01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矫正前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30/34=0.8824;Homo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0/243=0.0000;Wild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0/54=0.0000;Wild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01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矫正后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30/34=0.8824;Hete(corrected)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0/243=0.0000;Wild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0/54=0.0000;Wild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5111" y="1038577"/>
            <a:ext cx="955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案列</a:t>
            </a:r>
            <a:r>
              <a:rPr lang="en-US" altLang="zh-CN" sz="2400" dirty="0" smtClean="0"/>
              <a:t>1</a:t>
            </a:r>
            <a:endParaRPr lang="zh-CN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314222" y="1823736"/>
          <a:ext cx="8816623" cy="1028401"/>
        </p:xfrm>
        <a:graphic>
          <a:graphicData uri="http://schemas.openxmlformats.org/drawingml/2006/table">
            <a:tbl>
              <a:tblPr/>
              <a:tblGrid>
                <a:gridCol w="858995"/>
                <a:gridCol w="3284027"/>
                <a:gridCol w="2108549"/>
                <a:gridCol w="2565052"/>
              </a:tblGrid>
              <a:tr h="28131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latin typeface="Tahoma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父亲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母亲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先证者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71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矫正前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Tahoma"/>
                        </a:rPr>
                        <a:t>8/9=0.8889;Homo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Tahoma"/>
                        </a:rPr>
                        <a:t>6/6=1.0000;Homo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Tahoma"/>
                        </a:rPr>
                        <a:t>5/10=0.5000;Hete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1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矫正后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Tahoma"/>
                        </a:rPr>
                        <a:t>8/9=0.8889;Hete(corrected)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Tahoma"/>
                        </a:rPr>
                        <a:t>6/6=1.0000;Homo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Tahoma"/>
                        </a:rPr>
                        <a:t>5/10=0.5000;Hete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329742" y="3022068"/>
          <a:ext cx="8789812" cy="1211265"/>
        </p:xfrm>
        <a:graphic>
          <a:graphicData uri="http://schemas.openxmlformats.org/drawingml/2006/table">
            <a:tbl>
              <a:tblPr/>
              <a:tblGrid>
                <a:gridCol w="856383"/>
                <a:gridCol w="2040630"/>
                <a:gridCol w="2122312"/>
                <a:gridCol w="3770487"/>
              </a:tblGrid>
              <a:tr h="40375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latin typeface="Tahoma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父亲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母亲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先证者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75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矫正前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Tahoma"/>
                        </a:rPr>
                        <a:t>0/68=0.0000;Wild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Tahoma"/>
                        </a:rPr>
                        <a:t>0/90=0.0000;Wild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Tahoma"/>
                        </a:rPr>
                        <a:t>9/67=0.1343;Hete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75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矫正后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Tahoma"/>
                        </a:rPr>
                        <a:t>0/68=0.0000;Wild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Tahoma"/>
                        </a:rPr>
                        <a:t>0/90=0.0000;Wild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Tahoma"/>
                        </a:rPr>
                        <a:t>9/67=0.1343;Wild(corrected)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318456" y="4444470"/>
          <a:ext cx="8778522" cy="1245129"/>
        </p:xfrm>
        <a:graphic>
          <a:graphicData uri="http://schemas.openxmlformats.org/drawingml/2006/table">
            <a:tbl>
              <a:tblPr/>
              <a:tblGrid>
                <a:gridCol w="855283"/>
                <a:gridCol w="2075595"/>
                <a:gridCol w="3386666"/>
                <a:gridCol w="2460978"/>
              </a:tblGrid>
              <a:tr h="415043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latin typeface="Tahoma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父亲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母亲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先证者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043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矫正前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Tahoma"/>
                        </a:rPr>
                        <a:t>0/35=0.0000;Wild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Tahoma"/>
                        </a:rPr>
                        <a:t>3/32=0.0938;Wild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Tahoma"/>
                        </a:rPr>
                        <a:t>15/37=0.4054;Hete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043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矫正后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Tahoma"/>
                        </a:rPr>
                        <a:t>0/35=0.0000;Wild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Tahoma"/>
                        </a:rPr>
                        <a:t>3/32=0.0938;Hete(corrected)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Tahoma"/>
                        </a:rPr>
                        <a:t>15/37=0.4054;Hete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4622" y="4859867"/>
            <a:ext cx="955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案列</a:t>
            </a:r>
            <a:r>
              <a:rPr lang="en-US" altLang="zh-CN" sz="2400" dirty="0" smtClean="0"/>
              <a:t>4</a:t>
            </a:r>
            <a:endParaRPr lang="zh-CN" alt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417689" y="2054579"/>
            <a:ext cx="955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案列</a:t>
            </a:r>
            <a:r>
              <a:rPr lang="en-US" altLang="zh-CN" sz="2400" dirty="0" smtClean="0"/>
              <a:t>2</a:t>
            </a:r>
            <a:endParaRPr lang="zh-CN" alt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423334" y="3392312"/>
            <a:ext cx="955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案列</a:t>
            </a:r>
            <a:r>
              <a:rPr lang="en-US" altLang="zh-CN" sz="2400" dirty="0" smtClean="0"/>
              <a:t>3</a:t>
            </a:r>
            <a:endParaRPr lang="zh-CN" alt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677335" y="6118577"/>
            <a:ext cx="8267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结论：经统计</a:t>
            </a:r>
            <a:r>
              <a:rPr lang="zh-CN" altLang="en-US" sz="2800" dirty="0" smtClean="0">
                <a:solidFill>
                  <a:srgbClr val="FF0000"/>
                </a:solidFill>
              </a:rPr>
              <a:t>，约千分之</a:t>
            </a:r>
            <a:r>
              <a:rPr lang="en-US" altLang="zh-CN" sz="2800" dirty="0" smtClean="0">
                <a:solidFill>
                  <a:srgbClr val="FF0000"/>
                </a:solidFill>
              </a:rPr>
              <a:t>3</a:t>
            </a:r>
            <a:r>
              <a:rPr lang="zh-CN" altLang="en-US" sz="2800" dirty="0" smtClean="0">
                <a:solidFill>
                  <a:srgbClr val="FF0000"/>
                </a:solidFill>
              </a:rPr>
              <a:t>的突变型</a:t>
            </a:r>
            <a:r>
              <a:rPr lang="zh-CN" altLang="en-US" sz="2800" dirty="0" smtClean="0"/>
              <a:t>可以得到矫正。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突变可靠性的标准</a:t>
            </a:r>
            <a:endParaRPr lang="en-US" altLang="zh-CN" sz="3200" b="1" dirty="0" smtClean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919" y="763644"/>
            <a:ext cx="109546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zh-CN" altLang="zh-CN" sz="2400" dirty="0" smtClean="0">
                <a:latin typeface="Times New Roman" pitchFamily="18" charset="0"/>
                <a:cs typeface="Times New Roman" pitchFamily="18" charset="0"/>
              </a:rPr>
              <a:t>对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GATK</a:t>
            </a:r>
            <a:r>
              <a:rPr lang="zh-CN" altLang="zh-CN" sz="2400" dirty="0" smtClean="0">
                <a:latin typeface="Times New Roman" pitchFamily="18" charset="0"/>
                <a:cs typeface="Times New Roman" pitchFamily="18" charset="0"/>
              </a:rPr>
              <a:t>官网推荐参数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  <a:hlinkClick r:id="rId2"/>
              </a:rPr>
              <a:t>QualByDepth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 (QD)</a:t>
            </a:r>
            <a:r>
              <a:rPr lang="zh-CN" altLang="zh-CN" sz="2400" dirty="0" smtClean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  <a:hlinkClick r:id="rId3"/>
              </a:rPr>
              <a:t>FisherStrand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 (FS)</a:t>
            </a:r>
            <a:r>
              <a:rPr lang="zh-CN" altLang="zh-CN" sz="2400" dirty="0" smtClean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StrandOddsRatio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 (SOR)</a:t>
            </a:r>
            <a:r>
              <a:rPr lang="zh-CN" altLang="zh-CN" sz="2400" dirty="0" smtClean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  <a:hlinkClick r:id="rId4"/>
              </a:rPr>
              <a:t>MappingQualityRankSumTest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 (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  <a:hlinkClick r:id="rId4"/>
              </a:rPr>
              <a:t>MQRankSum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)</a:t>
            </a:r>
            <a:r>
              <a:rPr lang="zh-CN" altLang="zh-CN" sz="2400" dirty="0" smtClean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  <a:hlinkClick r:id="rId5"/>
              </a:rPr>
              <a:t>ReadPosRankSumTest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  <a:hlinkClick r:id="rId5"/>
              </a:rPr>
              <a:t> (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  <a:hlinkClick r:id="rId5"/>
              </a:rPr>
              <a:t>ReadPosRankSum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  <a:hlinkClick r:id="rId5"/>
              </a:rPr>
              <a:t>)</a:t>
            </a:r>
            <a:r>
              <a:rPr lang="zh-CN" altLang="zh-CN" sz="2400" dirty="0" smtClean="0">
                <a:latin typeface="Times New Roman" pitchFamily="18" charset="0"/>
                <a:cs typeface="Times New Roman" pitchFamily="18" charset="0"/>
              </a:rPr>
              <a:t>，以及经验参数突变支持深度、突变率、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GC</a:t>
            </a:r>
            <a:r>
              <a:rPr lang="zh-CN" altLang="zh-CN" sz="2400" dirty="0" smtClean="0">
                <a:latin typeface="Times New Roman" pitchFamily="18" charset="0"/>
                <a:cs typeface="Times New Roman" pitchFamily="18" charset="0"/>
              </a:rPr>
              <a:t>含量、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区域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repeat</a:t>
            </a:r>
            <a:r>
              <a:rPr lang="zh-CN" altLang="zh-CN" sz="2400" dirty="0" smtClean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区域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ssr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个数</a:t>
            </a:r>
            <a:r>
              <a:rPr lang="zh-CN" altLang="zh-CN" sz="2400" dirty="0" smtClean="0">
                <a:latin typeface="Times New Roman" pitchFamily="18" charset="0"/>
                <a:cs typeface="Times New Roman" pitchFamily="18" charset="0"/>
              </a:rPr>
              <a:t>等等一系列参数进行了系统性学习。以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11060</a:t>
            </a:r>
            <a:r>
              <a:rPr lang="zh-CN" altLang="zh-CN" sz="2400" dirty="0" smtClean="0">
                <a:latin typeface="Times New Roman" pitchFamily="18" charset="0"/>
                <a:cs typeface="Times New Roman" pitchFamily="18" charset="0"/>
              </a:rPr>
              <a:t>个突变为训练集（均有一代验证结果），对此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zh-CN" altLang="zh-CN" sz="2400" dirty="0" smtClean="0">
                <a:latin typeface="Times New Roman" pitchFamily="18" charset="0"/>
                <a:cs typeface="Times New Roman" pitchFamily="18" charset="0"/>
              </a:rPr>
              <a:t>个参数进行训练分类，统计。</a:t>
            </a:r>
          </a:p>
          <a:p>
            <a:endParaRPr lang="zh-CN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273216" y="3093288"/>
          <a:ext cx="8808333" cy="3080975"/>
        </p:xfrm>
        <a:graphic>
          <a:graphicData uri="http://schemas.openxmlformats.org/drawingml/2006/table">
            <a:tbl>
              <a:tblPr/>
              <a:tblGrid>
                <a:gridCol w="3158851"/>
                <a:gridCol w="1640172"/>
                <a:gridCol w="1640172"/>
                <a:gridCol w="2369138"/>
              </a:tblGrid>
              <a:tr h="3987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参数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参数范围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参数步长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参数可能情况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5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QD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：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0~4  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1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5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5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SOR</a:t>
                      </a:r>
                      <a:r>
                        <a:rPr lang="zh-CN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：</a:t>
                      </a: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        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1~6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1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7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5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FS:          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10~60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10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7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5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MQRankSum:   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-4~-2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0.5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6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5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ReadPosRankSum: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-6~-1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1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6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5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mut_rate:    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0.1~0.6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0.1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7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5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GC_min:      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0.2~0.4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0.1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3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5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GC_max:      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0.6~0.9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0.1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4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5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mut_dep:     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1~10 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2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5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5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ssr_num:     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6~10 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2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4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5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repeat: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2~4   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2</a:t>
                      </a:r>
                      <a:endParaRPr lang="zh-CN" sz="1600" kern="10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3</a:t>
                      </a:r>
                      <a:endParaRPr lang="zh-CN" sz="1600" kern="100" dirty="0">
                        <a:latin typeface="Times New Roman" pitchFamily="18" charset="0"/>
                        <a:ea typeface="微软雅黑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959555" y="4436534"/>
          <a:ext cx="8297334" cy="1614313"/>
        </p:xfrm>
        <a:graphic>
          <a:graphicData uri="http://schemas.openxmlformats.org/drawingml/2006/table">
            <a:tbl>
              <a:tblPr/>
              <a:tblGrid>
                <a:gridCol w="2235879"/>
                <a:gridCol w="2593327"/>
                <a:gridCol w="3468128"/>
              </a:tblGrid>
              <a:tr h="447496">
                <a:tc>
                  <a:txBody>
                    <a:bodyPr/>
                    <a:lstStyle/>
                    <a:p>
                      <a:pPr algn="l" fontAlgn="b"/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特别可靠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准确性达到99.6%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假阳性率控制在2%以下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939">
                <a:tc>
                  <a:txBody>
                    <a:bodyPr/>
                    <a:lstStyle/>
                    <a:p>
                      <a:pPr algn="l" fontAlgn="b"/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相对可靠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准确率达到99.3%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假阳性率控制在10%以下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939">
                <a:tc>
                  <a:txBody>
                    <a:bodyPr/>
                    <a:lstStyle/>
                    <a:p>
                      <a:pPr algn="l" fontAlgn="b"/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可能不可靠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准确率达到98.7%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假阳性率控制在20%以下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939">
                <a:tc>
                  <a:txBody>
                    <a:bodyPr/>
                    <a:lstStyle/>
                    <a:p>
                      <a:pPr algn="l" fontAlgn="b"/>
                      <a:r>
                        <a:rPr 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不可靠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准确率达到97.3%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假阳性率控制在40%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突变可靠性的标准</a:t>
            </a:r>
            <a:endParaRPr lang="en-US" altLang="zh-CN" sz="3200" b="1" dirty="0" smtClean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70466" y="1272999"/>
          <a:ext cx="8847667" cy="2181225"/>
        </p:xfrm>
        <a:graphic>
          <a:graphicData uri="http://schemas.openxmlformats.org/drawingml/2006/table">
            <a:tbl>
              <a:tblPr/>
              <a:tblGrid>
                <a:gridCol w="1865472"/>
                <a:gridCol w="1439079"/>
                <a:gridCol w="2238566"/>
                <a:gridCol w="3304550"/>
              </a:tblGrid>
              <a:tr h="196766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FS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&lt;87 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ssr_num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&lt;=7个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766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SOR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&lt;5.5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Repeat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&lt;=7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319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MQRankSum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&gt; -5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Mut_ratio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&gt;20%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57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ReadPosRankSum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&gt; -4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Mut_depth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&gt;4 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201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QD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&gt; 1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系统性错误（假基因、实验误差等）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最近100个样本的变异库，少于10个样本携带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2488" y="77893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基线过滤标准：</a:t>
            </a:r>
            <a:endParaRPr lang="zh-CN" alt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807155" y="370839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最终分级标准：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220"/>
          <p:cNvSpPr/>
          <p:nvPr/>
        </p:nvSpPr>
        <p:spPr>
          <a:xfrm>
            <a:off x="0" y="0"/>
            <a:ext cx="10453511" cy="553155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0865" indent="-570865" defTabSz="907415">
              <a:buFont typeface="Wingdings" pitchFamily="2" charset="2"/>
              <a:buChar char="u"/>
            </a:pPr>
            <a:r>
              <a:rPr lang="en-US" altLang="zh-CN" sz="3200" b="1" dirty="0" smtClean="0">
                <a:solidFill>
                  <a:prstClr val="black"/>
                </a:solidFill>
                <a:latin typeface="+mn-ea"/>
              </a:rPr>
              <a:t>WES </a:t>
            </a:r>
            <a:r>
              <a:rPr lang="zh-CN" altLang="en-US" sz="3200" b="1" dirty="0" smtClean="0">
                <a:solidFill>
                  <a:prstClr val="black"/>
                </a:solidFill>
                <a:latin typeface="+mn-ea"/>
              </a:rPr>
              <a:t>过滤标准</a:t>
            </a:r>
            <a:endParaRPr lang="en-US" altLang="zh-CN" sz="3200" b="1" dirty="0" smtClean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30577" y="745064"/>
          <a:ext cx="11063111" cy="5657850"/>
        </p:xfrm>
        <a:graphic>
          <a:graphicData uri="http://schemas.openxmlformats.org/drawingml/2006/table">
            <a:tbl>
              <a:tblPr/>
              <a:tblGrid>
                <a:gridCol w="508199"/>
                <a:gridCol w="10554912"/>
              </a:tblGrid>
              <a:tr h="26591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000" b="0" i="0" u="none" strike="noStrike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突变过滤标准如下：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MQ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值 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&lt; 35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过滤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个及以上的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ssr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区域变异过滤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个及以上的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repeat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区域变异过滤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变异中有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碱基的变异过滤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突变深度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以下，或者突变率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20%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以下的突变过滤。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INDEL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长度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bp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到 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bp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之间，突变率小于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0.3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的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INDEL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过滤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50bp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以上的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INDEL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过滤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30bp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以外内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含子过滤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变异前后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150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bp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内变异个数大于等于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个则过滤。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FS &gt;=87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则过滤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SOR &gt;=5.5 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则过滤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MQRankSum &lt;=-5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则过滤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13)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ReadPosRankSum &lt;=-4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则过滤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QD &lt;=-1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则过滤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0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个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及以上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repeat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区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域的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变异给不可靠。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916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个及以上的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ssr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区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域的变异给不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可靠。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2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213350" y="5612130"/>
            <a:ext cx="1765935" cy="5949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85156" y="1862894"/>
            <a:ext cx="94118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/>
              <a:t>Thanks for your attention!</a:t>
            </a:r>
            <a:endParaRPr lang="zh-CN" altLang="en-US" sz="6600" dirty="0"/>
          </a:p>
        </p:txBody>
      </p:sp>
    </p:spTree>
    <p:custDataLst>
      <p:tags r:id="rId1"/>
    </p:custDataLst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3676"/>
  <p:tag name="KSO_WM_TAG_VERSION" val="1.0"/>
  <p:tag name="KSO_WM_SLIDE_ID" val="basetag20163676_6"/>
  <p:tag name="KSO_WM_SLIDE_INDEX" val="6"/>
  <p:tag name="KSO_WM_SLIDE_ITEM_CNT" val="0"/>
  <p:tag name="KSO_WM_SLIDE_TYPE" val="contents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45228"/>
  <p:tag name="MH_LIBRARY" val="GRAPHIC"/>
  <p:tag name="KSO_WM_TEMPLATE_CATEGORY" val="custom"/>
  <p:tag name="KSO_WM_TEMPLATE_INDEX" val="160112"/>
  <p:tag name="KSO_WM_SLIDE_ID" val="custom160112_30"/>
  <p:tag name="KSO_WM_SLIDE_INDEX" val="30"/>
  <p:tag name="KSO_WM_SLIDE_ITEM_CNT" val="0"/>
  <p:tag name="KSO_WM_SLIDE_TYPE" val="endPage"/>
  <p:tag name="KSO_WM_BEAUTIFY_FLAG" val="#wm#"/>
  <p:tag name="KSO_WM_TAG_VERSION" val="1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10153</TotalTime>
  <Words>2382</Words>
  <Application>Microsoft Office PowerPoint</Application>
  <PresentationFormat>自定义</PresentationFormat>
  <Paragraphs>650</Paragraphs>
  <Slides>27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28" baseType="lpstr">
      <vt:lpstr>Office 主题</vt:lpstr>
      <vt:lpstr>突变可靠性研究总结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生物信息部</dc:title>
  <dc:creator>Administrator</dc:creator>
  <cp:lastModifiedBy>Administrator</cp:lastModifiedBy>
  <cp:revision>1027</cp:revision>
  <dcterms:created xsi:type="dcterms:W3CDTF">2015-05-05T08:02:00Z</dcterms:created>
  <dcterms:modified xsi:type="dcterms:W3CDTF">2018-10-23T01:09:57Z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2052-10.1.0.6207</vt:lpwstr>
  </property>
</Properties>
</file>